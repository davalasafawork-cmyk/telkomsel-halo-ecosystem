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Segoe UI"/>
              </a:defRPr>
            </a:pPr>
            <a:r>
              <a:t>STRATEGIC REDESIGN &amp; DIGITAL ORCHESTRATION</a:t>
            </a:r>
          </a:p>
          <a:p>
            <a:pPr>
              <a:spcBef>
                <a:spcPts val="800"/>
              </a:spcBef>
              <a:defRPr sz="3200" b="1">
                <a:solidFill>
                  <a:srgbClr val="0F172A"/>
                </a:solidFill>
                <a:latin typeface="Segoe UI"/>
              </a:defRPr>
            </a:pPr>
            <a:r>
              <a:t>Telkomsel Halo Web-First Architecture</a:t>
            </a:r>
          </a:p>
          <a:p>
            <a:pPr>
              <a:spcBef>
                <a:spcPts val="1200"/>
              </a:spcBef>
              <a:defRPr sz="1400">
                <a:solidFill>
                  <a:srgbClr val="334155"/>
                </a:solidFill>
                <a:latin typeface="Segoe UI"/>
              </a:defRPr>
            </a:pPr>
            <a:r>
              <a:t>Konsolidasi Master Hub 2-Halaman, Fast-Track eSIM 5G, &amp; Solusi Presisi Pre-to-Post (Halo Optima ARPU Uplift)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846320"/>
            <a:ext cx="77724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983480"/>
            <a:ext cx="7406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Target Audience: GM &amp; Executive Leadership | Focus: Conversion Efficiency, Zero Expectation Gap &amp; Web Acceleration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Segoe UI"/>
              </a:defRPr>
            </a:pPr>
            <a:r>
              <a:t>Platform: telkomsel.com Ecosystem | Technical Owner: Web Development Team | Status: Blueprint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E11D48"/>
                </a:solidFill>
                <a:latin typeface="Segoe UI"/>
              </a:defRPr>
            </a:pPr>
            <a:r>
              <a:t>EXECUTIVE CONTEXT &amp;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Fragmentasi Halaman Telkomsel Halo Menurunkan Efisiensi; Pendekatan Web-First Menjadi Kunci Percepatan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Evaluasi komparatif antara struktur halaman saat ini dengan peluang konsolidasi berbasis kapabilitas web telkomsel.com.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28416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11D48"/>
                </a:solidFill>
                <a:latin typeface="Segoe UI"/>
              </a:defRPr>
            </a:pPr>
            <a:r>
              <a:t>Tantangan Eksisting (Status Quo)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Silo &amp; Kanibalisasi URL: </a:t>
            </a:r>
          </a:p>
          <a:p>
            <a:pPr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Halo+, Halo Family, Device Plan, dan Migrasi berdiri di halaman terpisah. Memecah SEO rank &amp; membingungkan calon pelanggan.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Tingginya Drop-off Registrasi: </a:t>
            </a:r>
          </a:p>
          <a:p>
            <a:pPr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Banyak rute mengarahkan paksa download aplikasi MyTelkomsel di awal sebelum konversi terjadi (menambah friksi ~20-30%).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Konflik Aturan Pre-to-Post: </a:t>
            </a:r>
          </a:p>
          <a:p>
            <a:pPr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Pelanggan nomor lama sering memilih paket di bawah historical ARPU, lalu ditolak di akhir alur (false expectation &amp; friksi tinggi).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737360"/>
            <a:ext cx="3328416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901952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Peluang Web Telkomsel.com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28600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Rapid Development Cycle: </a:t>
            </a:r>
          </a:p>
          <a:p>
            <a:pPr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Tim web telkomsel.com memiliki siklus iterasi dan rilis fitur jauh lebih cepat dibanding ketergantungan pada native app release cycle.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Rich Customization Capability: </a:t>
            </a:r>
          </a:p>
          <a:p>
            <a:pPr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Mendukung dynamic component, in-browser webcam OCR Dukcapil, serta kalkulator paket interaktif dengan state management modern.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Optimal Traffic Ingestion: </a:t>
            </a:r>
          </a:p>
          <a:p>
            <a:pPr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Web adalah muara terbaik untuk paid ads (Google Search, Meta, TikTok) dan direct organic traffic dengan bounce rate minimal.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737360"/>
            <a:ext cx="3328416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901952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66534"/>
                </a:solidFill>
                <a:latin typeface="Segoe UI"/>
              </a:defRPr>
            </a:pPr>
            <a:r>
              <a:t>Solusi: 2-Page Master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28600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Page 1: Showcase Master Hub: </a:t>
            </a:r>
          </a:p>
          <a:p>
            <a:pPr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Edukasi nilai tambah 5G Halo &amp; perbandingan kontras 3 pilar produk (Kontrak vs Optima vs Flexy). Single source of brand authority.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Page 2: Unified Catalog Engine: </a:t>
            </a:r>
          </a:p>
          <a:p>
            <a:pPr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Satu katalog terpadu untuk semua kartu paket, pemilihan nomor, validasi KYC, dan checkout instan tanpa reload halaman.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b="1" sz="950">
                <a:solidFill>
                  <a:srgbClr val="0F172A"/>
                </a:solidFill>
              </a:defRPr>
            </a:pPr>
            <a:r>
              <a:t>• Identify-First pada Pre-to-Post: </a:t>
            </a:r>
          </a:p>
          <a:p>
            <a:pPr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Pengecekan nomor di awal sebelum menampilkan katalog Halo Optima, memastikan paket yang tampil selalu memenuhi syarat ARPU Uplift.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E11D48"/>
                </a:solidFill>
                <a:latin typeface="Segoe UI"/>
              </a:defRPr>
            </a:pPr>
            <a:r>
              <a:t>TARGET INFORMATION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Model 2-Page Hub-and-Spoke: Memisahkan Edukasi Pilar dengan Mesin Transaksi Instan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Mencegah 'cognitive overload' di halaman depan sekaligus menyediakan alur checkout berkecepatan tinggi bagi pengguna ber-intent pasti.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11D48"/>
                </a:solidFill>
                <a:latin typeface="Segoe UI"/>
              </a:defRPr>
            </a:pPr>
            <a:r>
              <a:t>PAGE 1: Master Showcase Hub (telkomsel.com/halo)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Fungsi Utama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Top-of-Funnel &amp; Edukasi Proposisi Nilai. Menampung traffic organik SEO dan paid ads brand lifestyle.</a:t>
            </a:r>
          </a:p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Layer 1: Universal Benefit Showcase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Menyoroti 4 keunggulan inti pascabayar:</a:t>
            </a:r>
            <a:br/>
            <a:r>
              <a:t>  1. Priority Network 5G (Bandwidth prioritas di area ramai)</a:t>
            </a:r>
            <a:br/>
            <a:r>
              <a:t>  2. Global Roaming di 100+ negara tanpa ganti SIM</a:t>
            </a:r>
            <a:br/>
            <a:r>
              <a:t>  3. Lifestyle Perks &amp; OTT (Disney+, Prime Video, Poin)</a:t>
            </a:r>
            <a:br/>
            <a:r>
              <a:t>  4. Zero Bill Shock (Kontrol batas limit tagihan otomatis)</a:t>
            </a:r>
          </a:p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Layer 2: 3-Pilar Lini Produk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Komparasi tingkat tinggi: Halo Kontrak (Bundling HP), Halo Optima (Pascabayar Reguler), &amp; Halo Flexy (Kontrol Budget).</a:t>
            </a:r>
          </a:p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Fast-Track Hook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CTA Sticky / Banner: 'Punya HP 5G? Dapatkan eSIM Aktif dalam 2 Menit' dengan deteksi kompatibilitas otomatis.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0195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PAGE 2: Unified Catalog &amp; Conversion Engine (/katalog)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Fungsi Utama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Middle &amp; Bottom-of-Funnel. Mesin filter pintar, kalkulator paket, verifikasi KYC, dan transaksi instan.</a:t>
            </a:r>
          </a:p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Dual-Track Intent Switcher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Toggle Sticky di header:</a:t>
            </a:r>
            <a:br/>
            <a:r>
              <a:t>  • [Pasang Baru]: Membuka semua pilar &amp; tier harga bebas.</a:t>
            </a:r>
            <a:br/>
            <a:r>
              <a:t>  • [Pindah ke Halo]: Khusus Halo Optima dengan validasi nomor.</a:t>
            </a:r>
          </a:p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Dynamic Checkout Drawer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Alur pembelian tanpa reload halaman:</a:t>
            </a:r>
            <a:br/>
            <a:r>
              <a:t>  1. Pilihan SIM: eSIM 5G Instan vs Pengiriman SIM Fisik</a:t>
            </a:r>
            <a:br/>
            <a:r>
              <a:t>  2. Seleksi Nomor: Nomor acak gratis atau pencarian nomor cantik</a:t>
            </a:r>
            <a:br/>
            <a:r>
              <a:t>  3. In-Browser KYC: Validasi NIK &amp; No. KK via Web API Dukcapil</a:t>
            </a:r>
            <a:br/>
            <a:r>
              <a:t>  4. Payment Gateway: QRIS, GoPay, VA, CC, ShopeePay</a:t>
            </a:r>
          </a:p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Penerbitan Seketika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Render QR Code profil eSIM di web browser + kirim backup ke email &amp; WhatsApp secara otomatis.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E11D48"/>
                </a:solidFill>
                <a:latin typeface="Segoe UI"/>
              </a:defRPr>
            </a:pPr>
            <a:r>
              <a:t>PRODUCT PORTFOLIO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Restrukturisasi Portofolio ke dalam 3 Pilar Produk yang Jelas dan Tersegmentasi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Menyederhanakan belasan paket legacy menjadi 3 pilihan mental model yang mudah dipahami calon pelanggan.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28416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11D48"/>
                </a:solidFill>
                <a:latin typeface="Segoe UI"/>
              </a:defRPr>
            </a:pPr>
            <a:r>
              <a:t>📱 1. HALO KONTRAK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296265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50">
                <a:solidFill>
                  <a:srgbClr val="E11D48"/>
                </a:solidFill>
              </a:defRPr>
            </a:pPr>
            <a:r>
              <a:t>BUNDLING DEVICE &amp; KOMITMEN DISKON</a:t>
            </a:r>
          </a:p>
          <a:p>
            <a:pPr>
              <a:spcBef>
                <a:spcPts val="800"/>
              </a:spcBef>
              <a:defRPr b="1" sz="950">
                <a:solidFill>
                  <a:srgbClr val="0F172A"/>
                </a:solidFill>
              </a:defRPr>
            </a:pPr>
            <a:r>
              <a:t>Target Pengguna: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Konsumen yang ingin membeli smartphone flagship baru (iPhone 15/16, Samsung Galaxy S/Z) atau mengincar diskon biaya bulanan jangka panjang.</a:t>
            </a:r>
          </a:p>
          <a:p>
            <a:pPr>
              <a:spcBef>
                <a:spcPts val="1000"/>
              </a:spcBef>
              <a:defRPr b="1" sz="950">
                <a:solidFill>
                  <a:srgbClr val="0F172A"/>
                </a:solidFill>
              </a:defRPr>
            </a:pPr>
            <a:r>
              <a:t>Proposisi Nilai &amp; Benefit: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Diskon paket s/d 40% dengan komitmen 12 atau 24 bulan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Subsidi cicilan smartphone 0% via bank partner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Proteksi layar dan garansi tambahan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Status: Eksklusif Pasang Nomor Baru (New Acquisition)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737360"/>
            <a:ext cx="3328416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901952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👑 2. HALO OPTIMA (REGULER)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240280"/>
            <a:ext cx="296265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50">
                <a:solidFill>
                  <a:srgbClr val="2563EB"/>
                </a:solidFill>
              </a:defRPr>
            </a:pPr>
            <a:r>
              <a:t>PASCABAYAR MURNI &amp; KUOTA MASIF</a:t>
            </a:r>
          </a:p>
          <a:p>
            <a:pPr>
              <a:spcBef>
                <a:spcPts val="800"/>
              </a:spcBef>
              <a:defRPr b="1" sz="950">
                <a:solidFill>
                  <a:srgbClr val="0F172A"/>
                </a:solidFill>
              </a:defRPr>
            </a:pPr>
            <a:r>
              <a:t>Target Pengguna: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Heavy data users, profesional digital, dan pengguna yang menginginkan akses prioritas 5G tanpa pembagian kuota/jam.</a:t>
            </a:r>
          </a:p>
          <a:p>
            <a:pPr>
              <a:spcBef>
                <a:spcPts val="1000"/>
              </a:spcBef>
              <a:defRPr b="1" sz="950">
                <a:solidFill>
                  <a:srgbClr val="0F172A"/>
                </a:solidFill>
              </a:defRPr>
            </a:pPr>
            <a:r>
              <a:t>Proposisi Nilai &amp; Benefit: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Kuota utama 100% 24 jam di seluruh jaringan Telkomsel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Bebas roaming di 100+ negara mitra global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Langganan Disney+ Hotstar &amp; Prime Video gratis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Status: TERSEDIA untuk Pasang Baru &amp; Pre-to-Post (P2P)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737360"/>
            <a:ext cx="3328416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901952"/>
            <a:ext cx="296265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E7490"/>
                </a:solidFill>
                <a:latin typeface="Segoe UI"/>
              </a:defRPr>
            </a:pPr>
            <a:r>
              <a:t>⚖️ 3. HALO FLEXY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240280"/>
            <a:ext cx="296265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850">
                <a:solidFill>
                  <a:srgbClr val="0E7490"/>
                </a:solidFill>
              </a:defRPr>
            </a:pPr>
            <a:r>
              <a:t>PASCABAYAR FLEKSIBEL &amp; KONTROL BUDGET</a:t>
            </a:r>
          </a:p>
          <a:p>
            <a:pPr>
              <a:spcBef>
                <a:spcPts val="800"/>
              </a:spcBef>
              <a:defRPr b="1" sz="950">
                <a:solidFill>
                  <a:srgbClr val="0F172A"/>
                </a:solidFill>
              </a:defRPr>
            </a:pPr>
            <a:r>
              <a:t>Target Pengguna: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Pengguna prabayar yang ragu beralih ke pascabayar karena takut tagihan membengkak ('bill shock').</a:t>
            </a:r>
          </a:p>
          <a:p>
            <a:pPr>
              <a:spcBef>
                <a:spcPts val="1000"/>
              </a:spcBef>
              <a:defRPr b="1" sz="950">
                <a:solidFill>
                  <a:srgbClr val="0F172A"/>
                </a:solidFill>
              </a:defRPr>
            </a:pPr>
            <a:r>
              <a:t>Proposisi Nilai &amp; Benefit: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Pagu biaya (Credit Limit) yang terkunci ketat per bulan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Bisa top-up booster kuota prabayar jika limit tercapai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Harga paket terjangkau untuk entry-level pascabayar</a:t>
            </a:r>
          </a:p>
          <a:p>
            <a:pPr>
              <a:spcBef>
                <a:spcPts val="300"/>
              </a:spcBef>
              <a:defRPr sz="880">
                <a:solidFill>
                  <a:srgbClr val="334155"/>
                </a:solidFill>
              </a:defRPr>
            </a:pPr>
            <a:r>
              <a:t>• Status: Eksklusif Pasang Nomor Baru (New Acquisition)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E11D48"/>
                </a:solidFill>
                <a:latin typeface="Segoe UI"/>
              </a:defRPr>
            </a:pPr>
            <a:r>
              <a:t>CUSTOMER EXPERIENCE &amp; BUSINESS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Inovasi Pre-to-Post: Menyelaraskan Aturan ARPU Uplift Tanpa Mencederai UX Pelanggan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Menerapkan paradigma 'Identify-First, Reveal-Second' khusus Halo Optima untuk mengeliminasi rasa kecewa pelanggan nomor lama.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E11D48"/>
                </a:solidFill>
                <a:latin typeface="Segoe UI"/>
              </a:defRPr>
            </a:pPr>
            <a:r>
              <a:t>Dilema Bisnis vs Solusi 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• Dilema Aturan ARPU Uplift: 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Aturan telko melarang pelanggan prabayar memilih paket pascabayar yang lebih murah dari rata-rata pengeluaran bulanannya (mencegah downsell / revenue loss).</a:t>
            </a:r>
          </a:p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• Risiko Pola Lama (Browse-First): 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Jika user melihat Halo Optima 100K lalu memilihnya, sistem baru menolak di akhir karena ARPU-nya Rp150K. User merasa 'dihukum karena loyal' dan langsung membatalkan pembelian.</a:t>
            </a:r>
          </a:p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• Solusi: 'Identify-First, Reveal-Second': 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Saat user memilih 'Pindah ke Halo', pilar otomatis terkunci ke Halo Optima. Form input nomor muncul di depan; sistem memvalidasi ARPU di belakang layar, dan HANYA me-render paket yang memenuhi syarat uplift.</a:t>
            </a:r>
          </a:p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• Zero Expectation Gap: 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Pelanggan tidak pernah melihat paket yang tidak bisa mereka beli. Ekspektasi palsu tereliminasi 100%.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0195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66534"/>
                </a:solidFill>
                <a:latin typeface="Segoe UI"/>
              </a:defRPr>
            </a:pPr>
            <a:r>
              <a:t>3 Taktik Eksekusi Pre-to-Post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950">
                <a:solidFill>
                  <a:srgbClr val="0F172A"/>
                </a:solidFill>
              </a:defRPr>
            </a:pPr>
            <a:r>
              <a:t>1. Tokenized Magic-Link (Zero Retype)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Kampanye SMS, WhatsApp, atau In-App Banner di MyTelkomsel membawa URL bertoken enkripsi (?token=...). Saat diklik, nomor prabayar langsung teridentifikasi tanpa perlu ketik manual.</a:t>
            </a:r>
          </a:p>
          <a:p>
            <a:pPr>
              <a:spcBef>
                <a:spcPts val="800"/>
              </a:spcBef>
              <a:defRPr b="1" sz="950">
                <a:solidFill>
                  <a:srgbClr val="0F172A"/>
                </a:solidFill>
              </a:defRPr>
            </a:pPr>
            <a:r>
              <a:t>2. Positive Value Framing (Bukan Pembatasan)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Hindari bahasa penolakan ('Paket tidak tersedia karena pulsa Anda tinggi'). Gunakan framing apresiatif: 'Berdasarkan profil nomor Anda, Anda berhak atas paket Halo Optima Prioritas 50GB + Hiburan Bebas Biaya.'</a:t>
            </a:r>
          </a:p>
          <a:p>
            <a:pPr>
              <a:spcBef>
                <a:spcPts val="800"/>
              </a:spcBef>
              <a:defRPr b="1" sz="950">
                <a:solidFill>
                  <a:srgbClr val="0F172A"/>
                </a:solidFill>
              </a:defRPr>
            </a:pPr>
            <a:r>
              <a:t>3. Over-The-Air (OTA) Instant Switch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Pelanggan migrasi tidak perlu repot mengganti fisik SIM atau men-scan QR profil baru. Core network Telkomsel langsung mengubah status nomor prabayar menjadi pascabayar seketika setelah validasi NIK/KK.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E11D48"/>
                </a:solidFill>
                <a:latin typeface="Segoe UI"/>
              </a:defRPr>
            </a:pPr>
            <a:r>
              <a:t>OMNICHANNEL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Matriks Orkestrasi Touchpoint Digital: Batasan Peran yang Tegas Menghilangkan Redundansi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Menetapkan 'guardrails' fungsional antara Web, Aplikasi MyTelkomsel, Veronika WhatsApp, dan Paid Media.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3291840"/>
                <a:gridCol w="3230575"/>
              </a:tblGrid>
              <a:tr h="89611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Digital Touchpoint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Peran Strategis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Tanggung Jawab Utama (Core Jobs)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Batasan / Yang Dihindari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Web telkomsel.com</a:t>
                      </a:r>
                      <a:br/>
                      <a:r>
                        <a:t>(Halo Master Hub)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Core Conversion &amp;</a:t>
                      </a:r>
                      <a:br/>
                      <a:r>
                        <a:t>Acquisition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• Showcase seluruh benefit 5G &amp; pilar produk</a:t>
                      </a:r>
                      <a:br/>
                      <a:r>
                        <a:t>• Kalkulator paket &amp; seleksi nomor cantik</a:t>
                      </a:r>
                      <a:br/>
                      <a:r>
                        <a:t>• In-browser KYC Dukcapil &amp; payment gateway</a:t>
                      </a:r>
                      <a:br/>
                      <a:r>
                        <a:t>• Penerbitan QR profil eSIM 5G (&lt;2 menit)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• Tidak memaksa pengguna mengunduh MyTelkomsel hanya untuk sekadar mendaftar di awal.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Aplikasi MyTelkomsel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Post-Purchase Hub &amp;</a:t>
                      </a:r>
                      <a:br/>
                      <a:r>
                        <a:t>Trafik P2P Ingestion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• Pengecekan sisa kuota &amp; rincian tagihan (billing)</a:t>
                      </a:r>
                      <a:br/>
                      <a:r>
                        <a:t>• Pembayaran tagihan bulanan &amp; tukar Poin</a:t>
                      </a:r>
                      <a:br/>
                      <a:r>
                        <a:t>• Menampilkan in-app banner promo P2P dengan Tokenized Magic Link ke web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• Menghindari pembuatan landing page promo akuisisi baru yang menduplikasi katalog web.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WhatsApp Veronika</a:t>
                      </a:r>
                      <a:br/>
                      <a:r>
                        <a:t>(Chatbot Official)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Safety-Net &amp;</a:t>
                      </a:r>
                      <a:br/>
                      <a:r>
                        <a:t>Cart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• Mengirim pesan bantuan otomatis jika KYC / pembayaran pending &gt;15 menit di web</a:t>
                      </a:r>
                      <a:br/>
                      <a:r>
                        <a:t>• Pengiriman backup QR Code eSIM jika browser tertutup</a:t>
                      </a:r>
                      <a:br/>
                      <a:r>
                        <a:t>• Asistensi kendala aktivasi profil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• Tidak menjadi tempat memilih katalog paket yang rumit (cukup kirimkan deep-link ke web).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Paid Ads</a:t>
                      </a:r>
                      <a:br/>
                      <a:r>
                        <a:t>(Meta, Google, TikTok)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Traffic Ingestion &amp;</a:t>
                      </a:r>
                      <a:br/>
                      <a:r>
                        <a:t>Intent Matcher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• Kampanye ber-intent spesifik (Search 5G, device ads)</a:t>
                      </a:r>
                      <a:br/>
                      <a:r>
                        <a:t>• Direct deep-link ke anchor eSIM atau pilar paket di Page 2 (?pillar=kontrak / ?sim=esim)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• Menghindari mengarahkan iklan ke homepage generik tanpa CTA pembelian yang terfokus.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E11D48"/>
                </a:solidFill>
                <a:latin typeface="Segoe UI"/>
              </a:defRPr>
            </a:pPr>
            <a:r>
              <a:t>IMPLEMENTATION &amp; EXPECTED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Spesifikasi Teknis Web Developer dan Peta Jalan Implementasi 90 Hari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Memanfaatkan keunggulan teknologi web modern (Next.js SPA) untuk mewujudkan dampak bisnis terukur bagi Telkomsel Halo.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Enabler Teknis Tim Web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1. Single-Page Application (SPA) Transition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Perpindahan dari Page 1 ke Page 2 dieksekusi client-side (Next.js), menghasilkan transisi instan tanpa jeda muat ulang halaman.</a:t>
            </a:r>
          </a:p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2. URL State Synchronization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Setiap pilihan filter tersinkron ke parameter URL (contoh: /katalog?pillar=optima&amp;plan=150k&amp;sim=esim), memudahkan tracking dan retargeting ads.</a:t>
            </a:r>
          </a:p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3. In-Browser OCR &amp; Dukcapil API Integration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Pengambilan foto KTP langsung via WebRTC kamera untuk membaca NIK secara otomatis, mengurangi tingkat drop-off akibat salah ketik manual.</a:t>
            </a:r>
          </a:p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4. SM-DP+ Direct Push &amp; OTA Webhook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Penerbitan profil eSIM langsung di layar konfirmasi web dan integrasi webhook pemicu switch status prabayar ke pascabayar secara OTA.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0195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66534"/>
                </a:solidFill>
                <a:latin typeface="Segoe UI"/>
              </a:defRPr>
            </a:pPr>
            <a:r>
              <a:t>Peta Jalan 90 Hari &amp; Proyeksi Dampak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Fase 1 (Hari 1-30): Master IA &amp; P2P API Integration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Penyatuan desain Page 1 &amp; Page 2, pembangunan endpoint ARPU eligibility checker, serta integrasi tokenized magic link.</a:t>
            </a:r>
          </a:p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Fase 2 (Hari 31-60): In-Browser KYC &amp; SM-DP+ Automation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Implementasi OCR KTP web, payment gateway terpadu, dan rendering QR Code eSIM 5G instan di layar konfirmasi.</a:t>
            </a:r>
          </a:p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Fase 3 (Hari 61-90): Omnichannel Cart Recovery &amp; Rollout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Pengaktifan webhook WhatsApp Veronika untuk recovery drop-off, integrasi banner MyTelkomsel, dan peluncuran publik.</a:t>
            </a:r>
          </a:p>
          <a:p>
            <a:pPr>
              <a:spcBef>
                <a:spcPts val="600"/>
              </a:spcBef>
              <a:defRPr b="1" sz="950">
                <a:solidFill>
                  <a:srgbClr val="0F172A"/>
                </a:solidFill>
              </a:defRPr>
            </a:pPr>
            <a:r>
              <a:t>Proyeksi Dampak Bisnis (Expected Business Impact)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</a:defRPr>
            </a:pPr>
            <a:r>
              <a:t>• Estimasi Penurunan Bounce Rate: -35% (melalui konsolidasi halaman)</a:t>
            </a:r>
            <a:br/>
            <a:r>
              <a:t>• Peningkatan Conversion Rate: +25% (melalui fast-track eSIM &amp; zero friction)</a:t>
            </a:r>
            <a:br/>
            <a:r>
              <a:t>• Zero Customer Disappointment pada P2P (melalui server-side ARPU filtering)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